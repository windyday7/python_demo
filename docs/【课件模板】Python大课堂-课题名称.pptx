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6" r:id="rId2"/>
    <p:sldId id="261" r:id="rId3"/>
    <p:sldId id="264" r:id="rId4"/>
    <p:sldId id="262" r:id="rId5"/>
    <p:sldId id="267" r:id="rId6"/>
  </p:sldIdLst>
  <p:sldSz cx="12192000" cy="6858000"/>
  <p:notesSz cx="7104063" cy="10234613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0E2"/>
    <a:srgbClr val="FD7B55"/>
    <a:srgbClr val="FD6C40"/>
    <a:srgbClr val="FD8F54"/>
    <a:srgbClr val="7C608E"/>
    <a:srgbClr val="009E8C"/>
    <a:srgbClr val="598E35"/>
    <a:srgbClr val="325026"/>
    <a:srgbClr val="00903E"/>
    <a:srgbClr val="286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8B2B1-EF87-436F-BEC6-21DF84915C76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4C15F-9ACF-400F-A090-EE9CC9157E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3700" y="275590"/>
            <a:ext cx="4715510" cy="469265"/>
            <a:chOff x="620" y="434"/>
            <a:chExt cx="7426" cy="739"/>
          </a:xfrm>
        </p:grpSpPr>
        <p:pic>
          <p:nvPicPr>
            <p:cNvPr id="6" name="图片 5" descr="数字化转型学习-2-logo"/>
            <p:cNvPicPr>
              <a:picLocks noChangeAspect="1"/>
            </p:cNvPicPr>
            <p:nvPr/>
          </p:nvPicPr>
          <p:blipFill>
            <a:blip r:embed="rId3"/>
            <a:srcRect r="51034" b="-4972"/>
            <a:stretch>
              <a:fillRect/>
            </a:stretch>
          </p:blipFill>
          <p:spPr>
            <a:xfrm>
              <a:off x="620" y="434"/>
              <a:ext cx="2936" cy="739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 userDrawn="1"/>
          </p:nvGrpSpPr>
          <p:grpSpPr>
            <a:xfrm>
              <a:off x="3556" y="436"/>
              <a:ext cx="4490" cy="737"/>
              <a:chOff x="2329085" y="401271"/>
              <a:chExt cx="2851150" cy="468000"/>
            </a:xfrm>
          </p:grpSpPr>
          <p:cxnSp>
            <p:nvCxnSpPr>
              <p:cNvPr id="5" name="直接连接符 4"/>
              <p:cNvCxnSpPr/>
              <p:nvPr userDrawn="1"/>
            </p:nvCxnSpPr>
            <p:spPr>
              <a:xfrm>
                <a:off x="2329085" y="401271"/>
                <a:ext cx="0" cy="468000"/>
              </a:xfrm>
              <a:prstGeom prst="line">
                <a:avLst/>
              </a:prstGeom>
              <a:ln w="12700">
                <a:solidFill>
                  <a:schemeClr val="bg1">
                    <a:alpha val="5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/>
              <p:cNvSpPr txBox="1"/>
              <p:nvPr userDrawn="1"/>
            </p:nvSpPr>
            <p:spPr>
              <a:xfrm>
                <a:off x="2329085" y="466041"/>
                <a:ext cx="2851150" cy="337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Python</a:t>
                </a:r>
                <a:r>
                  <a:rPr lang="zh-CN" altLang="en-US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实战大课堂</a:t>
                </a:r>
                <a:r>
                  <a:rPr lang="en-US" altLang="zh-CN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·</a:t>
                </a:r>
                <a:r>
                  <a:rPr lang="en-US" altLang="zh-CN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2026</a:t>
                </a:r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635" y="1916430"/>
            <a:ext cx="12191365" cy="26543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3"/>
          <p:cNvSpPr>
            <a:spLocks noGrp="1"/>
          </p:cNvSpPr>
          <p:nvPr/>
        </p:nvSpPr>
        <p:spPr>
          <a:xfrm>
            <a:off x="0" y="1849755"/>
            <a:ext cx="12192635" cy="300863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ysClr val="window" lastClr="FFFFFF"/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defRPr>
            </a:lvl1pPr>
          </a:lstStyle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课程名称</a:t>
            </a:r>
            <a:endParaRPr lang="zh-CN" alt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84432" y="5178091"/>
            <a:ext cx="2077720" cy="906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XX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团队   </a:t>
            </a: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XXX</a:t>
            </a:r>
          </a:p>
          <a:p>
            <a:pPr algn="ctr">
              <a:spcBef>
                <a:spcPts val="600"/>
              </a:spcBef>
            </a:pP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年</a:t>
            </a: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月</a:t>
            </a: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X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172456" y="1639907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kern="1400" dirty="0">
                <a:solidFill>
                  <a:srgbClr val="FD6C4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820410" y="3518535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820410" y="4129151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820410" y="4739767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820410" y="5350383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20410" y="5960999"/>
            <a:ext cx="4658360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5834441" y="3152302"/>
            <a:ext cx="776287" cy="306705"/>
            <a:chOff x="1050510" y="2107727"/>
            <a:chExt cx="776287" cy="306705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140997" y="2107727"/>
              <a:ext cx="68580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834441" y="4989052"/>
            <a:ext cx="776287" cy="307777"/>
            <a:chOff x="1050510" y="2107727"/>
            <a:chExt cx="776287" cy="307777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834441" y="3764552"/>
            <a:ext cx="776287" cy="307777"/>
            <a:chOff x="1050510" y="2107727"/>
            <a:chExt cx="776287" cy="307777"/>
          </a:xfrm>
        </p:grpSpPr>
        <p:cxnSp>
          <p:nvCxnSpPr>
            <p:cNvPr id="44" name="直接连接符 43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834441" y="5601302"/>
            <a:ext cx="776287" cy="307777"/>
            <a:chOff x="1050510" y="2107727"/>
            <a:chExt cx="776287" cy="307777"/>
          </a:xfrm>
        </p:grpSpPr>
        <p:cxnSp>
          <p:nvCxnSpPr>
            <p:cNvPr id="54" name="直接连接符 53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834441" y="4376802"/>
            <a:ext cx="776287" cy="307777"/>
            <a:chOff x="1050510" y="2107727"/>
            <a:chExt cx="776287" cy="307777"/>
          </a:xfrm>
        </p:grpSpPr>
        <p:cxnSp>
          <p:nvCxnSpPr>
            <p:cNvPr id="58" name="直接连接符 57"/>
            <p:cNvCxnSpPr/>
            <p:nvPr/>
          </p:nvCxnSpPr>
          <p:spPr>
            <a:xfrm flipH="1">
              <a:off x="1050510" y="2184690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>
              <a:off x="1117185" y="2184689"/>
              <a:ext cx="47625" cy="1365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1140997" y="2107727"/>
              <a:ext cx="685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9478910" y="3137062"/>
            <a:ext cx="68159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XXXXX</a:t>
            </a:r>
          </a:p>
        </p:txBody>
      </p:sp>
      <p:sp>
        <p:nvSpPr>
          <p:cNvPr id="62" name="矩形 61"/>
          <p:cNvSpPr/>
          <p:nvPr/>
        </p:nvSpPr>
        <p:spPr>
          <a:xfrm>
            <a:off x="8641080" y="666750"/>
            <a:ext cx="1904365" cy="1586230"/>
          </a:xfrm>
          <a:prstGeom prst="rect">
            <a:avLst/>
          </a:prstGeom>
          <a:noFill/>
          <a:ln w="28575">
            <a:solidFill>
              <a:srgbClr val="FD7B5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8113395" y="1016000"/>
            <a:ext cx="982980" cy="7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440170" y="956310"/>
            <a:ext cx="388810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kern="1400" spc="400" dirty="0">
                <a:solidFill>
                  <a:srgbClr val="FD7B55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</a:p>
        </p:txBody>
      </p:sp>
      <p:pic>
        <p:nvPicPr>
          <p:cNvPr id="3" name="图片 2" descr="Data extraction-pana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" y="543560"/>
            <a:ext cx="5524500" cy="552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 descr="封面图1"/>
          <p:cNvPicPr>
            <a:picLocks noGrp="1" noChangeAspect="1"/>
          </p:cNvPicPr>
          <p:nvPr>
            <p:ph idx="1"/>
          </p:nvPr>
        </p:nvPicPr>
        <p:blipFill>
          <a:blip r:embed="rId2"/>
          <a:srcRect b="84491"/>
          <a:stretch>
            <a:fillRect/>
          </a:stretch>
        </p:blipFill>
        <p:spPr>
          <a:xfrm flipV="1">
            <a:off x="0" y="5798820"/>
            <a:ext cx="12191365" cy="1059180"/>
          </a:xfrm>
          <a:prstGeom prst="rect">
            <a:avLst/>
          </a:prstGeom>
        </p:spPr>
      </p:pic>
      <p:pic>
        <p:nvPicPr>
          <p:cNvPr id="4" name="图片 3" descr="数字化转型学习-1-logo"/>
          <p:cNvPicPr>
            <a:picLocks noChangeAspect="1"/>
          </p:cNvPicPr>
          <p:nvPr/>
        </p:nvPicPr>
        <p:blipFill>
          <a:blip r:embed="rId3"/>
          <a:srcRect r="46641" b="1280"/>
          <a:stretch>
            <a:fillRect/>
          </a:stretch>
        </p:blipFill>
        <p:spPr>
          <a:xfrm>
            <a:off x="397510" y="276225"/>
            <a:ext cx="2027555" cy="44069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2365915" y="341581"/>
            <a:ext cx="2851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Python</a:t>
            </a:r>
            <a:r>
              <a:rPr lang="zh-CN" altLang="en-US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实战大课堂</a:t>
            </a:r>
            <a:r>
              <a:rPr lang="en-US" altLang="zh-CN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·</a:t>
            </a:r>
            <a:r>
              <a:rPr lang="en-US" altLang="zh-CN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1270"/>
            <a:ext cx="12192000" cy="6856730"/>
            <a:chOff x="0" y="2"/>
            <a:chExt cx="19200" cy="10798"/>
          </a:xfrm>
        </p:grpSpPr>
        <p:pic>
          <p:nvPicPr>
            <p:cNvPr id="6" name="图片 5" descr="封面图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"/>
              <a:ext cx="19200" cy="1079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297" y="293"/>
              <a:ext cx="18607" cy="101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 descr="数字化转型学习-1-logo"/>
          <p:cNvPicPr>
            <a:picLocks noChangeAspect="1"/>
          </p:cNvPicPr>
          <p:nvPr/>
        </p:nvPicPr>
        <p:blipFill>
          <a:blip r:embed="rId3"/>
          <a:srcRect r="46641" b="1280"/>
          <a:stretch>
            <a:fillRect/>
          </a:stretch>
        </p:blipFill>
        <p:spPr>
          <a:xfrm>
            <a:off x="397510" y="276225"/>
            <a:ext cx="2027555" cy="44069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2365915" y="341581"/>
            <a:ext cx="2851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Python</a:t>
            </a:r>
            <a:r>
              <a:rPr lang="zh-CN" altLang="en-US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实战大课堂</a:t>
            </a:r>
            <a:r>
              <a:rPr lang="en-US" altLang="zh-CN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zh-CN" altLang="en-US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·</a:t>
            </a:r>
            <a:r>
              <a:rPr lang="en-US" altLang="zh-CN" sz="1600" b="1" i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3700" y="275590"/>
            <a:ext cx="4715510" cy="469265"/>
            <a:chOff x="620" y="434"/>
            <a:chExt cx="7426" cy="739"/>
          </a:xfrm>
        </p:grpSpPr>
        <p:pic>
          <p:nvPicPr>
            <p:cNvPr id="6" name="图片 5" descr="数字化转型学习-2-logo"/>
            <p:cNvPicPr>
              <a:picLocks noChangeAspect="1"/>
            </p:cNvPicPr>
            <p:nvPr/>
          </p:nvPicPr>
          <p:blipFill>
            <a:blip r:embed="rId3"/>
            <a:srcRect r="51034" b="-4972"/>
            <a:stretch>
              <a:fillRect/>
            </a:stretch>
          </p:blipFill>
          <p:spPr>
            <a:xfrm>
              <a:off x="620" y="434"/>
              <a:ext cx="2936" cy="739"/>
            </a:xfrm>
            <a:prstGeom prst="rect">
              <a:avLst/>
            </a:prstGeom>
          </p:spPr>
        </p:pic>
        <p:grpSp>
          <p:nvGrpSpPr>
            <p:cNvPr id="4" name="组合 3"/>
            <p:cNvGrpSpPr/>
            <p:nvPr userDrawn="1"/>
          </p:nvGrpSpPr>
          <p:grpSpPr>
            <a:xfrm>
              <a:off x="3556" y="436"/>
              <a:ext cx="4490" cy="737"/>
              <a:chOff x="2329085" y="401271"/>
              <a:chExt cx="2851150" cy="468000"/>
            </a:xfrm>
          </p:grpSpPr>
          <p:cxnSp>
            <p:nvCxnSpPr>
              <p:cNvPr id="5" name="直接连接符 4"/>
              <p:cNvCxnSpPr/>
              <p:nvPr userDrawn="1"/>
            </p:nvCxnSpPr>
            <p:spPr>
              <a:xfrm>
                <a:off x="2329085" y="401271"/>
                <a:ext cx="0" cy="468000"/>
              </a:xfrm>
              <a:prstGeom prst="line">
                <a:avLst/>
              </a:prstGeom>
              <a:ln w="12700">
                <a:solidFill>
                  <a:schemeClr val="bg1">
                    <a:alpha val="5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文本框 6"/>
              <p:cNvSpPr txBox="1"/>
              <p:nvPr userDrawn="1"/>
            </p:nvSpPr>
            <p:spPr>
              <a:xfrm>
                <a:off x="2329085" y="466041"/>
                <a:ext cx="2851150" cy="337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Python</a:t>
                </a:r>
                <a:r>
                  <a:rPr lang="zh-CN" altLang="en-US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实战大课堂</a:t>
                </a:r>
                <a:r>
                  <a:rPr lang="en-US" altLang="zh-CN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zh-CN" altLang="en-US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·</a:t>
                </a:r>
                <a:r>
                  <a:rPr lang="en-US" altLang="zh-CN" sz="1600" b="1" i="1" dirty="0">
                    <a:solidFill>
                      <a:schemeClr val="bg1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2026</a:t>
                </a:r>
              </a:p>
            </p:txBody>
          </p:sp>
        </p:grpSp>
      </p:grpSp>
      <p:sp>
        <p:nvSpPr>
          <p:cNvPr id="10" name="标题 3"/>
          <p:cNvSpPr>
            <a:spLocks noGrp="1"/>
          </p:cNvSpPr>
          <p:nvPr/>
        </p:nvSpPr>
        <p:spPr>
          <a:xfrm>
            <a:off x="0" y="1849755"/>
            <a:ext cx="12192635" cy="300863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ysClr val="window" lastClr="FFFFFF"/>
                </a:solidFill>
                <a:latin typeface="方正银联黑简体" panose="02000000000000000000" pitchFamily="2" charset="-122"/>
                <a:ea typeface="方正银联黑简体" panose="02000000000000000000" pitchFamily="2" charset="-122"/>
                <a:cs typeface="方正银联黑简体" panose="02000000000000000000" pitchFamily="2" charset="-122"/>
              </a:defRPr>
            </a:lvl1pPr>
          </a:lstStyle>
          <a:p>
            <a:r>
              <a:rPr lang="en-US" altLang="zh-CN" sz="4400" dirty="0">
                <a:solidFill>
                  <a:schemeClr val="accent2">
                    <a:lumMod val="50000"/>
                  </a:schemeClr>
                </a:solidFill>
              </a:rPr>
              <a:t>Python</a:t>
            </a:r>
            <a:r>
              <a:rPr lang="zh-CN" altLang="en-US" sz="4400" dirty="0">
                <a:solidFill>
                  <a:schemeClr val="accent2">
                    <a:lumMod val="50000"/>
                  </a:schemeClr>
                </a:solidFill>
              </a:rPr>
              <a:t>实战大课堂</a:t>
            </a:r>
            <a:r>
              <a:rPr lang="en-US" altLang="zh-CN" sz="4400" dirty="0">
                <a:solidFill>
                  <a:schemeClr val="accent2">
                    <a:lumMod val="50000"/>
                  </a:schemeClr>
                </a:solidFill>
              </a:rPr>
              <a:t> ·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I4YTgzNDM3OGU2NWE4ZDQ3ZGM2MWY3NzgwZGYyZ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方正银联黑简体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gcccnew</dc:creator>
  <cp:lastModifiedBy>Windy Day</cp:lastModifiedBy>
  <cp:revision>62</cp:revision>
  <dcterms:created xsi:type="dcterms:W3CDTF">2022-08-09T04:01:00Z</dcterms:created>
  <dcterms:modified xsi:type="dcterms:W3CDTF">2026-09-15T08:14:44Z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988376E9376546EC8C67B2DC21953C4F_13</vt:lpwstr>
  </property>
</Properties>
</file>