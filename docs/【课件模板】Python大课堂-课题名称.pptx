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7"/>
  </p:notesMasterIdLst>
  <p:handoutMasterIdLst>
    <p:handoutMasterId r:id="rId8"/>
  </p:handoutMasterIdLst>
  <p:sldIdLst>
    <p:sldId id="266" r:id="rId2"/>
    <p:sldId id="261" r:id="rId3"/>
    <p:sldId id="264" r:id="rId4"/>
    <p:sldId id="262" r:id="rId5"/>
    <p:sldId id="267" r:id="rId6"/>
  </p:sldIdLst>
  <p:sldSz cx="12192000" cy="6858000"/>
  <p:notesSz cx="7104063" cy="10234613"/>
  <p:custDataLst>
    <p:tags r:id="rId9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F0E2"/>
    <a:srgbClr val="FD7B55"/>
    <a:srgbClr val="FD6C40"/>
    <a:srgbClr val="FD8F54"/>
    <a:srgbClr val="7C608E"/>
    <a:srgbClr val="009E8C"/>
    <a:srgbClr val="598E35"/>
    <a:srgbClr val="325026"/>
    <a:srgbClr val="00903E"/>
    <a:srgbClr val="28684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80" y="2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handoutMaster" Target="handoutMasters/handoutMaster1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tags" Target="tags/tag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45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4023812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45"/>
            </a:lvl1pPr>
          </a:lstStyle>
          <a:p>
            <a:fld id="{0F9B84EA-7D68-4D60-9CB1-D50884785D1C}" type="datetimeFigureOut">
              <a:rPr lang="zh-CN" altLang="en-US" smtClean="0"/>
              <a:t>2026/9/16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45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4023812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45"/>
            </a:lvl1pPr>
          </a:lstStyle>
          <a:p>
            <a:fld id="{8D4E0FC9-F1F8-4FAE-9988-3BA365CFD46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798B2B1-EF87-436F-BEC6-21DF84915C76}" type="datetimeFigureOut">
              <a:rPr lang="zh-CN" altLang="en-US" smtClean="0"/>
              <a:t>2026/9/16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711200" y="4926013"/>
            <a:ext cx="5683250" cy="402907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914C15F-9ACF-400F-A090-EE9CC9157E75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F288E0-7875-42C4-84C8-98DBBD3BF4D2}" type="datetimeFigureOut">
              <a:rPr lang="zh-CN" altLang="en-US" smtClean="0"/>
              <a:t>2026/9/16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9BB5D0-35E4-459D-AEF3-FE4D7C45CC19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F288E0-7875-42C4-84C8-98DBBD3BF4D2}" type="datetimeFigureOut">
              <a:rPr lang="zh-CN" altLang="en-US" smtClean="0"/>
              <a:t>2026/9/16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9BB5D0-35E4-459D-AEF3-FE4D7C45CC19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F288E0-7875-42C4-84C8-98DBBD3BF4D2}" type="datetimeFigureOut">
              <a:rPr lang="zh-CN" altLang="en-US" smtClean="0"/>
              <a:t>2026/9/16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9BB5D0-35E4-459D-AEF3-FE4D7C45CC19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F288E0-7875-42C4-84C8-98DBBD3BF4D2}" type="datetimeFigureOut">
              <a:rPr lang="zh-CN" altLang="en-US" smtClean="0"/>
              <a:t>2026/9/16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9BB5D0-35E4-459D-AEF3-FE4D7C45CC19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1186774" y="1778438"/>
            <a:ext cx="4873574" cy="823912"/>
          </a:xfrm>
        </p:spPr>
        <p:txBody>
          <a:bodyPr anchor="ctr" anchorCtr="0"/>
          <a:lstStyle>
            <a:lvl1pPr marL="0" indent="0">
              <a:buNone/>
              <a:defRPr sz="2800"/>
            </a:lvl1pPr>
            <a:lvl2pPr marL="457200" indent="0">
              <a:buNone/>
              <a:defRPr sz="2400"/>
            </a:lvl2pPr>
            <a:lvl3pPr marL="914400" indent="0">
              <a:buNone/>
              <a:defRPr sz="20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  <a:lvl6pPr marL="2286000" indent="0">
              <a:buNone/>
              <a:defRPr sz="1800"/>
            </a:lvl6pPr>
            <a:lvl7pPr marL="2743200" indent="0">
              <a:buNone/>
              <a:defRPr sz="1800"/>
            </a:lvl7pPr>
            <a:lvl8pPr marL="3200400" indent="0">
              <a:buNone/>
              <a:defRPr sz="1800"/>
            </a:lvl8pPr>
            <a:lvl9pPr marL="3657600" indent="0">
              <a:buNone/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1186774" y="2665379"/>
            <a:ext cx="4873574" cy="3524284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256938" y="1778438"/>
            <a:ext cx="4897576" cy="823912"/>
          </a:xfrm>
        </p:spPr>
        <p:txBody>
          <a:bodyPr anchor="ctr" anchorCtr="0"/>
          <a:lstStyle>
            <a:lvl1pPr marL="0" indent="0">
              <a:buNone/>
              <a:defRPr sz="2800"/>
            </a:lvl1pPr>
            <a:lvl2pPr marL="457200" indent="0">
              <a:buNone/>
              <a:defRPr sz="2400"/>
            </a:lvl2pPr>
            <a:lvl3pPr marL="914400" indent="0">
              <a:buNone/>
              <a:defRPr sz="20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  <a:lvl6pPr marL="2286000" indent="0">
              <a:buNone/>
              <a:defRPr sz="1800"/>
            </a:lvl6pPr>
            <a:lvl7pPr marL="2743200" indent="0">
              <a:buNone/>
              <a:defRPr sz="1800"/>
            </a:lvl7pPr>
            <a:lvl8pPr marL="3200400" indent="0">
              <a:buNone/>
              <a:defRPr sz="1800"/>
            </a:lvl8pPr>
            <a:lvl9pPr marL="3657600" indent="0">
              <a:buNone/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256938" y="2665379"/>
            <a:ext cx="4897576" cy="3524284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F288E0-7875-42C4-84C8-98DBBD3BF4D2}" type="datetimeFigureOut">
              <a:rPr lang="zh-CN" altLang="en-US" smtClean="0"/>
              <a:t>2026/9/16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9BB5D0-35E4-459D-AEF3-FE4D7C45CC19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F288E0-7875-42C4-84C8-98DBBD3BF4D2}" type="datetimeFigureOut">
              <a:rPr lang="zh-CN" altLang="en-US" smtClean="0"/>
              <a:t>2026/9/16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9BB5D0-35E4-459D-AEF3-FE4D7C45CC19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F288E0-7875-42C4-84C8-98DBBD3BF4D2}" type="datetimeFigureOut">
              <a:rPr lang="zh-CN" altLang="en-US" smtClean="0"/>
              <a:t>2026/9/16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9BB5D0-35E4-459D-AEF3-FE4D7C45CC19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4165349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457201"/>
            <a:ext cx="6172200" cy="540385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4165349" cy="3811588"/>
          </a:xfrm>
        </p:spPr>
        <p:txBody>
          <a:bodyPr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F288E0-7875-42C4-84C8-98DBBD3BF4D2}" type="datetimeFigureOut">
              <a:rPr lang="zh-CN" altLang="en-US" smtClean="0"/>
              <a:t>2026/9/16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9BB5D0-35E4-459D-AEF3-FE4D7C45CC19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F288E0-7875-42C4-84C8-98DBBD3BF4D2}" type="datetimeFigureOut">
              <a:rPr lang="zh-CN" altLang="en-US" smtClean="0"/>
              <a:t>2026/9/16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9BB5D0-35E4-459D-AEF3-FE4D7C45CC19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/>
          <p:cNvSpPr>
            <a:spLocks noGrp="1"/>
          </p:cNvSpPr>
          <p:nvPr>
            <p:ph/>
          </p:nvPr>
        </p:nvSpPr>
        <p:spPr>
          <a:xfrm>
            <a:off x="838200" y="365125"/>
            <a:ext cx="10515600" cy="58118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F288E0-7875-42C4-84C8-98DBBD3BF4D2}" type="datetimeFigureOut">
              <a:rPr lang="zh-CN" altLang="en-US" smtClean="0"/>
              <a:t>2026/9/16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9BB5D0-35E4-459D-AEF3-FE4D7C45CC19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2F288E0-7875-42C4-84C8-98DBBD3BF4D2}" type="datetimeFigureOut">
              <a:rPr lang="zh-CN" altLang="en-US" smtClean="0"/>
              <a:t>2026/9/16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9BB5D0-35E4-459D-AEF3-FE4D7C45CC19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组合 11"/>
          <p:cNvGrpSpPr/>
          <p:nvPr/>
        </p:nvGrpSpPr>
        <p:grpSpPr>
          <a:xfrm>
            <a:off x="393700" y="275590"/>
            <a:ext cx="4715510" cy="469265"/>
            <a:chOff x="620" y="434"/>
            <a:chExt cx="7426" cy="739"/>
          </a:xfrm>
        </p:grpSpPr>
        <p:pic>
          <p:nvPicPr>
            <p:cNvPr id="6" name="图片 5" descr="数字化转型学习-2-logo"/>
            <p:cNvPicPr>
              <a:picLocks noChangeAspect="1"/>
            </p:cNvPicPr>
            <p:nvPr/>
          </p:nvPicPr>
          <p:blipFill>
            <a:blip r:embed="rId3"/>
            <a:srcRect r="51034" b="-4972"/>
            <a:stretch>
              <a:fillRect/>
            </a:stretch>
          </p:blipFill>
          <p:spPr>
            <a:xfrm>
              <a:off x="620" y="434"/>
              <a:ext cx="2936" cy="739"/>
            </a:xfrm>
            <a:prstGeom prst="rect">
              <a:avLst/>
            </a:prstGeom>
          </p:spPr>
        </p:pic>
        <p:grpSp>
          <p:nvGrpSpPr>
            <p:cNvPr id="4" name="组合 3"/>
            <p:cNvGrpSpPr/>
            <p:nvPr userDrawn="1"/>
          </p:nvGrpSpPr>
          <p:grpSpPr>
            <a:xfrm>
              <a:off x="3556" y="436"/>
              <a:ext cx="4490" cy="737"/>
              <a:chOff x="2329085" y="401271"/>
              <a:chExt cx="2851150" cy="468000"/>
            </a:xfrm>
          </p:grpSpPr>
          <p:cxnSp>
            <p:nvCxnSpPr>
              <p:cNvPr id="5" name="直接连接符 4"/>
              <p:cNvCxnSpPr/>
              <p:nvPr userDrawn="1"/>
            </p:nvCxnSpPr>
            <p:spPr>
              <a:xfrm>
                <a:off x="2329085" y="401271"/>
                <a:ext cx="0" cy="468000"/>
              </a:xfrm>
              <a:prstGeom prst="line">
                <a:avLst/>
              </a:prstGeom>
              <a:ln w="12700">
                <a:solidFill>
                  <a:schemeClr val="bg1">
                    <a:alpha val="56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" name="文本框 6"/>
              <p:cNvSpPr txBox="1"/>
              <p:nvPr userDrawn="1"/>
            </p:nvSpPr>
            <p:spPr>
              <a:xfrm>
                <a:off x="2329085" y="466041"/>
                <a:ext cx="2851150" cy="33718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600" b="1" i="1" dirty="0">
                    <a:solidFill>
                      <a:schemeClr val="bg1"/>
                    </a:solidFill>
                    <a:latin typeface="等线" panose="02010600030101010101" pitchFamily="2" charset="-122"/>
                    <a:ea typeface="等线" panose="02010600030101010101" pitchFamily="2" charset="-122"/>
                  </a:rPr>
                  <a:t>Python</a:t>
                </a:r>
                <a:r>
                  <a:rPr lang="zh-CN" altLang="en-US" sz="1600" b="1" i="1" dirty="0">
                    <a:solidFill>
                      <a:schemeClr val="bg1"/>
                    </a:solidFill>
                    <a:latin typeface="等线" panose="02010600030101010101" pitchFamily="2" charset="-122"/>
                    <a:ea typeface="等线" panose="02010600030101010101" pitchFamily="2" charset="-122"/>
                  </a:rPr>
                  <a:t>实战大课堂</a:t>
                </a:r>
                <a:r>
                  <a:rPr lang="en-US" altLang="zh-CN" sz="1600" b="1" i="1" dirty="0">
                    <a:solidFill>
                      <a:schemeClr val="bg1"/>
                    </a:solidFill>
                    <a:latin typeface="等线" panose="02010600030101010101" pitchFamily="2" charset="-122"/>
                    <a:ea typeface="等线" panose="02010600030101010101" pitchFamily="2" charset="-122"/>
                  </a:rPr>
                  <a:t> </a:t>
                </a:r>
                <a:r>
                  <a:rPr lang="zh-CN" altLang="en-US" sz="1600" b="1" i="1" dirty="0">
                    <a:solidFill>
                      <a:schemeClr val="bg1"/>
                    </a:solidFill>
                    <a:latin typeface="等线" panose="02010600030101010101" pitchFamily="2" charset="-122"/>
                    <a:ea typeface="等线" panose="02010600030101010101" pitchFamily="2" charset="-122"/>
                  </a:rPr>
                  <a:t>·</a:t>
                </a:r>
                <a:r>
                  <a:rPr lang="en-US" altLang="zh-CN" sz="1600" b="1" i="1" dirty="0">
                    <a:solidFill>
                      <a:schemeClr val="bg1"/>
                    </a:solidFill>
                    <a:latin typeface="等线" panose="02010600030101010101" pitchFamily="2" charset="-122"/>
                    <a:ea typeface="等线" panose="02010600030101010101" pitchFamily="2" charset="-122"/>
                  </a:rPr>
                  <a:t> 2026</a:t>
                </a:r>
              </a:p>
            </p:txBody>
          </p:sp>
        </p:grpSp>
      </p:grpSp>
      <p:sp>
        <p:nvSpPr>
          <p:cNvPr id="15" name="矩形 14"/>
          <p:cNvSpPr/>
          <p:nvPr/>
        </p:nvSpPr>
        <p:spPr>
          <a:xfrm>
            <a:off x="635" y="1916430"/>
            <a:ext cx="12191365" cy="2654300"/>
          </a:xfrm>
          <a:prstGeom prst="rect">
            <a:avLst/>
          </a:prstGeom>
          <a:solidFill>
            <a:schemeClr val="bg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/>
          <p:cNvSpPr txBox="1"/>
          <p:nvPr/>
        </p:nvSpPr>
        <p:spPr>
          <a:xfrm>
            <a:off x="9172456" y="1639907"/>
            <a:ext cx="894080" cy="5219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800" b="1" kern="1400" dirty="0">
                <a:solidFill>
                  <a:srgbClr val="FD6C40"/>
                </a:solidFill>
                <a:latin typeface="微软雅黑" panose="020B0503020204020204" charset="-122"/>
                <a:ea typeface="微软雅黑" panose="020B0503020204020204" charset="-122"/>
              </a:rPr>
              <a:t>目录</a:t>
            </a:r>
          </a:p>
        </p:txBody>
      </p:sp>
      <p:cxnSp>
        <p:nvCxnSpPr>
          <p:cNvPr id="9" name="直接连接符 8"/>
          <p:cNvCxnSpPr/>
          <p:nvPr/>
        </p:nvCxnSpPr>
        <p:spPr>
          <a:xfrm>
            <a:off x="5820410" y="3518535"/>
            <a:ext cx="4658360" cy="0"/>
          </a:xfrm>
          <a:prstGeom prst="line">
            <a:avLst/>
          </a:prstGeom>
          <a:ln w="635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接连接符 10"/>
          <p:cNvCxnSpPr/>
          <p:nvPr/>
        </p:nvCxnSpPr>
        <p:spPr>
          <a:xfrm>
            <a:off x="5820410" y="4129151"/>
            <a:ext cx="4658360" cy="0"/>
          </a:xfrm>
          <a:prstGeom prst="line">
            <a:avLst/>
          </a:prstGeom>
          <a:ln w="635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直接连接符 11"/>
          <p:cNvCxnSpPr/>
          <p:nvPr/>
        </p:nvCxnSpPr>
        <p:spPr>
          <a:xfrm>
            <a:off x="5820410" y="4739767"/>
            <a:ext cx="4658360" cy="0"/>
          </a:xfrm>
          <a:prstGeom prst="line">
            <a:avLst/>
          </a:prstGeom>
          <a:ln w="635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直接连接符 12"/>
          <p:cNvCxnSpPr/>
          <p:nvPr/>
        </p:nvCxnSpPr>
        <p:spPr>
          <a:xfrm>
            <a:off x="5820410" y="5350383"/>
            <a:ext cx="4658360" cy="0"/>
          </a:xfrm>
          <a:prstGeom prst="line">
            <a:avLst/>
          </a:prstGeom>
          <a:ln w="635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直接连接符 17"/>
          <p:cNvCxnSpPr/>
          <p:nvPr/>
        </p:nvCxnSpPr>
        <p:spPr>
          <a:xfrm>
            <a:off x="5820410" y="5960999"/>
            <a:ext cx="4658360" cy="0"/>
          </a:xfrm>
          <a:prstGeom prst="line">
            <a:avLst/>
          </a:prstGeom>
          <a:ln w="6350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9" name="组合 18"/>
          <p:cNvGrpSpPr/>
          <p:nvPr/>
        </p:nvGrpSpPr>
        <p:grpSpPr>
          <a:xfrm>
            <a:off x="5834441" y="3152302"/>
            <a:ext cx="776287" cy="306705"/>
            <a:chOff x="1050510" y="2107727"/>
            <a:chExt cx="776287" cy="306705"/>
          </a:xfrm>
        </p:grpSpPr>
        <p:cxnSp>
          <p:nvCxnSpPr>
            <p:cNvPr id="20" name="直接连接符 19"/>
            <p:cNvCxnSpPr/>
            <p:nvPr/>
          </p:nvCxnSpPr>
          <p:spPr>
            <a:xfrm flipH="1">
              <a:off x="1050510" y="2184690"/>
              <a:ext cx="47625" cy="136525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直接连接符 20"/>
            <p:cNvCxnSpPr/>
            <p:nvPr/>
          </p:nvCxnSpPr>
          <p:spPr>
            <a:xfrm flipH="1">
              <a:off x="1117185" y="2184689"/>
              <a:ext cx="47625" cy="136525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文本框 21"/>
            <p:cNvSpPr txBox="1"/>
            <p:nvPr/>
          </p:nvSpPr>
          <p:spPr>
            <a:xfrm>
              <a:off x="1140997" y="2107727"/>
              <a:ext cx="685800" cy="30670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400" dirty="0">
                  <a:latin typeface="微软雅黑" panose="020B0503020204020204" charset="-122"/>
                  <a:ea typeface="微软雅黑" panose="020B0503020204020204" charset="-122"/>
                </a:rPr>
                <a:t>01</a:t>
              </a:r>
            </a:p>
          </p:txBody>
        </p:sp>
      </p:grpSp>
      <p:grpSp>
        <p:nvGrpSpPr>
          <p:cNvPr id="23" name="组合 22"/>
          <p:cNvGrpSpPr/>
          <p:nvPr/>
        </p:nvGrpSpPr>
        <p:grpSpPr>
          <a:xfrm>
            <a:off x="5834441" y="4989052"/>
            <a:ext cx="776287" cy="307777"/>
            <a:chOff x="1050510" y="2107727"/>
            <a:chExt cx="776287" cy="307777"/>
          </a:xfrm>
        </p:grpSpPr>
        <p:cxnSp>
          <p:nvCxnSpPr>
            <p:cNvPr id="24" name="直接连接符 23"/>
            <p:cNvCxnSpPr/>
            <p:nvPr/>
          </p:nvCxnSpPr>
          <p:spPr>
            <a:xfrm flipH="1">
              <a:off x="1050510" y="2184690"/>
              <a:ext cx="47625" cy="136525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直接连接符 24"/>
            <p:cNvCxnSpPr/>
            <p:nvPr/>
          </p:nvCxnSpPr>
          <p:spPr>
            <a:xfrm flipH="1">
              <a:off x="1117185" y="2184689"/>
              <a:ext cx="47625" cy="136525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2" name="文本框 41"/>
            <p:cNvSpPr txBox="1"/>
            <p:nvPr/>
          </p:nvSpPr>
          <p:spPr>
            <a:xfrm>
              <a:off x="1140997" y="2107727"/>
              <a:ext cx="68580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400" dirty="0">
                  <a:latin typeface="微软雅黑" panose="020B0503020204020204" charset="-122"/>
                  <a:ea typeface="微软雅黑" panose="020B0503020204020204" charset="-122"/>
                </a:rPr>
                <a:t>04</a:t>
              </a:r>
            </a:p>
          </p:txBody>
        </p:sp>
      </p:grpSp>
      <p:grpSp>
        <p:nvGrpSpPr>
          <p:cNvPr id="43" name="组合 42"/>
          <p:cNvGrpSpPr/>
          <p:nvPr/>
        </p:nvGrpSpPr>
        <p:grpSpPr>
          <a:xfrm>
            <a:off x="5834441" y="3764552"/>
            <a:ext cx="776287" cy="307777"/>
            <a:chOff x="1050510" y="2107727"/>
            <a:chExt cx="776287" cy="307777"/>
          </a:xfrm>
        </p:grpSpPr>
        <p:cxnSp>
          <p:nvCxnSpPr>
            <p:cNvPr id="44" name="直接连接符 43"/>
            <p:cNvCxnSpPr/>
            <p:nvPr/>
          </p:nvCxnSpPr>
          <p:spPr>
            <a:xfrm flipH="1">
              <a:off x="1050510" y="2184690"/>
              <a:ext cx="47625" cy="136525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直接连接符 44"/>
            <p:cNvCxnSpPr/>
            <p:nvPr/>
          </p:nvCxnSpPr>
          <p:spPr>
            <a:xfrm flipH="1">
              <a:off x="1117185" y="2184689"/>
              <a:ext cx="47625" cy="136525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2" name="文本框 51"/>
            <p:cNvSpPr txBox="1"/>
            <p:nvPr/>
          </p:nvSpPr>
          <p:spPr>
            <a:xfrm>
              <a:off x="1140997" y="2107727"/>
              <a:ext cx="68580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400" dirty="0">
                  <a:latin typeface="微软雅黑" panose="020B0503020204020204" charset="-122"/>
                  <a:ea typeface="微软雅黑" panose="020B0503020204020204" charset="-122"/>
                </a:rPr>
                <a:t>02</a:t>
              </a:r>
            </a:p>
          </p:txBody>
        </p:sp>
      </p:grpSp>
      <p:grpSp>
        <p:nvGrpSpPr>
          <p:cNvPr id="53" name="组合 52"/>
          <p:cNvGrpSpPr/>
          <p:nvPr/>
        </p:nvGrpSpPr>
        <p:grpSpPr>
          <a:xfrm>
            <a:off x="5834441" y="5601302"/>
            <a:ext cx="776287" cy="307777"/>
            <a:chOff x="1050510" y="2107727"/>
            <a:chExt cx="776287" cy="307777"/>
          </a:xfrm>
        </p:grpSpPr>
        <p:cxnSp>
          <p:nvCxnSpPr>
            <p:cNvPr id="54" name="直接连接符 53"/>
            <p:cNvCxnSpPr/>
            <p:nvPr/>
          </p:nvCxnSpPr>
          <p:spPr>
            <a:xfrm flipH="1">
              <a:off x="1050510" y="2184690"/>
              <a:ext cx="47625" cy="136525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直接连接符 54"/>
            <p:cNvCxnSpPr/>
            <p:nvPr/>
          </p:nvCxnSpPr>
          <p:spPr>
            <a:xfrm flipH="1">
              <a:off x="1117185" y="2184689"/>
              <a:ext cx="47625" cy="136525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6" name="文本框 55"/>
            <p:cNvSpPr txBox="1"/>
            <p:nvPr/>
          </p:nvSpPr>
          <p:spPr>
            <a:xfrm>
              <a:off x="1140997" y="2107727"/>
              <a:ext cx="68580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400" dirty="0">
                  <a:latin typeface="微软雅黑" panose="020B0503020204020204" charset="-122"/>
                  <a:ea typeface="微软雅黑" panose="020B0503020204020204" charset="-122"/>
                </a:rPr>
                <a:t>05</a:t>
              </a:r>
            </a:p>
          </p:txBody>
        </p:sp>
      </p:grpSp>
      <p:grpSp>
        <p:nvGrpSpPr>
          <p:cNvPr id="57" name="组合 56"/>
          <p:cNvGrpSpPr/>
          <p:nvPr/>
        </p:nvGrpSpPr>
        <p:grpSpPr>
          <a:xfrm>
            <a:off x="5834441" y="4376802"/>
            <a:ext cx="776287" cy="307777"/>
            <a:chOff x="1050510" y="2107727"/>
            <a:chExt cx="776287" cy="307777"/>
          </a:xfrm>
        </p:grpSpPr>
        <p:cxnSp>
          <p:nvCxnSpPr>
            <p:cNvPr id="58" name="直接连接符 57"/>
            <p:cNvCxnSpPr/>
            <p:nvPr/>
          </p:nvCxnSpPr>
          <p:spPr>
            <a:xfrm flipH="1">
              <a:off x="1050510" y="2184690"/>
              <a:ext cx="47625" cy="136525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直接连接符 58"/>
            <p:cNvCxnSpPr/>
            <p:nvPr/>
          </p:nvCxnSpPr>
          <p:spPr>
            <a:xfrm flipH="1">
              <a:off x="1117185" y="2184689"/>
              <a:ext cx="47625" cy="136525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0" name="文本框 59"/>
            <p:cNvSpPr txBox="1"/>
            <p:nvPr/>
          </p:nvSpPr>
          <p:spPr>
            <a:xfrm>
              <a:off x="1140997" y="2107727"/>
              <a:ext cx="68580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400" dirty="0">
                  <a:latin typeface="微软雅黑" panose="020B0503020204020204" charset="-122"/>
                  <a:ea typeface="微软雅黑" panose="020B0503020204020204" charset="-122"/>
                </a:rPr>
                <a:t>03</a:t>
              </a:r>
            </a:p>
          </p:txBody>
        </p:sp>
      </p:grpSp>
      <p:sp>
        <p:nvSpPr>
          <p:cNvPr id="61" name="文本框 60"/>
          <p:cNvSpPr txBox="1"/>
          <p:nvPr/>
        </p:nvSpPr>
        <p:spPr>
          <a:xfrm>
            <a:off x="9478910" y="3137062"/>
            <a:ext cx="681597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500" dirty="0">
                <a:solidFill>
                  <a:schemeClr val="accent2">
                    <a:lumMod val="50000"/>
                  </a:schemeClr>
                </a:solidFill>
                <a:latin typeface="微软雅黑" panose="020B0503020204020204" charset="-122"/>
                <a:ea typeface="微软雅黑" panose="020B0503020204020204" charset="-122"/>
              </a:rPr>
              <a:t>XXXXX</a:t>
            </a:r>
          </a:p>
        </p:txBody>
      </p:sp>
      <p:sp>
        <p:nvSpPr>
          <p:cNvPr id="62" name="矩形 61"/>
          <p:cNvSpPr/>
          <p:nvPr/>
        </p:nvSpPr>
        <p:spPr>
          <a:xfrm>
            <a:off x="8641080" y="666750"/>
            <a:ext cx="1904365" cy="1586230"/>
          </a:xfrm>
          <a:prstGeom prst="rect">
            <a:avLst/>
          </a:prstGeom>
          <a:noFill/>
          <a:ln w="28575">
            <a:solidFill>
              <a:srgbClr val="FD7B55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3" name="矩形 62"/>
          <p:cNvSpPr/>
          <p:nvPr/>
        </p:nvSpPr>
        <p:spPr>
          <a:xfrm>
            <a:off x="8113395" y="1016000"/>
            <a:ext cx="982980" cy="7569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4" name="文本框 63"/>
          <p:cNvSpPr txBox="1"/>
          <p:nvPr/>
        </p:nvSpPr>
        <p:spPr>
          <a:xfrm>
            <a:off x="6440170" y="956310"/>
            <a:ext cx="3888105" cy="7683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4400" b="1" kern="1400" spc="400" dirty="0">
                <a:solidFill>
                  <a:srgbClr val="FD7B55"/>
                </a:solidFill>
                <a:latin typeface="微软雅黑" panose="020B0503020204020204" charset="-122"/>
                <a:ea typeface="微软雅黑" panose="020B0503020204020204" charset="-122"/>
              </a:rPr>
              <a:t>CONTENTS</a:t>
            </a:r>
          </a:p>
        </p:txBody>
      </p:sp>
      <p:pic>
        <p:nvPicPr>
          <p:cNvPr id="3" name="图片 2" descr="Data extraction-pana (1)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055" y="543560"/>
            <a:ext cx="5524500" cy="55245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内容占位符 6" descr="封面图1"/>
          <p:cNvPicPr>
            <a:picLocks noGrp="1" noChangeAspect="1"/>
          </p:cNvPicPr>
          <p:nvPr>
            <p:ph idx="1"/>
          </p:nvPr>
        </p:nvPicPr>
        <p:blipFill>
          <a:blip r:embed="rId2"/>
          <a:srcRect b="84491"/>
          <a:stretch>
            <a:fillRect/>
          </a:stretch>
        </p:blipFill>
        <p:spPr>
          <a:xfrm flipV="1">
            <a:off x="0" y="5798820"/>
            <a:ext cx="12191365" cy="1059180"/>
          </a:xfrm>
          <a:prstGeom prst="rect">
            <a:avLst/>
          </a:prstGeom>
        </p:spPr>
      </p:pic>
      <p:pic>
        <p:nvPicPr>
          <p:cNvPr id="4" name="图片 3" descr="数字化转型学习-1-logo"/>
          <p:cNvPicPr>
            <a:picLocks noChangeAspect="1"/>
          </p:cNvPicPr>
          <p:nvPr/>
        </p:nvPicPr>
        <p:blipFill>
          <a:blip r:embed="rId3"/>
          <a:srcRect r="46641" b="1280"/>
          <a:stretch>
            <a:fillRect/>
          </a:stretch>
        </p:blipFill>
        <p:spPr>
          <a:xfrm>
            <a:off x="397510" y="276225"/>
            <a:ext cx="2027555" cy="440690"/>
          </a:xfrm>
          <a:prstGeom prst="rect">
            <a:avLst/>
          </a:prstGeom>
        </p:spPr>
      </p:pic>
      <p:sp>
        <p:nvSpPr>
          <p:cNvPr id="6" name="文本框 5"/>
          <p:cNvSpPr txBox="1"/>
          <p:nvPr userDrawn="1"/>
        </p:nvSpPr>
        <p:spPr>
          <a:xfrm>
            <a:off x="2365915" y="341581"/>
            <a:ext cx="2851150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i="1" dirty="0">
                <a:solidFill>
                  <a:schemeClr val="tx1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Python</a:t>
            </a:r>
            <a:r>
              <a:rPr lang="zh-CN" altLang="en-US" sz="1600" b="1" i="1" dirty="0">
                <a:solidFill>
                  <a:schemeClr val="tx1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实战大课堂</a:t>
            </a:r>
            <a:r>
              <a:rPr lang="en-US" altLang="zh-CN" sz="1600" b="1" i="1" dirty="0">
                <a:solidFill>
                  <a:schemeClr val="tx1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 </a:t>
            </a:r>
            <a:r>
              <a:rPr lang="zh-CN" altLang="en-US" sz="1600" b="1" i="1" dirty="0">
                <a:solidFill>
                  <a:schemeClr val="tx1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·</a:t>
            </a:r>
            <a:r>
              <a:rPr lang="en-US" altLang="zh-CN" sz="1600" b="1" i="1" dirty="0">
                <a:solidFill>
                  <a:schemeClr val="tx1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组合 9"/>
          <p:cNvGrpSpPr/>
          <p:nvPr/>
        </p:nvGrpSpPr>
        <p:grpSpPr>
          <a:xfrm>
            <a:off x="0" y="1270"/>
            <a:ext cx="12192000" cy="6856730"/>
            <a:chOff x="0" y="2"/>
            <a:chExt cx="19200" cy="10798"/>
          </a:xfrm>
        </p:grpSpPr>
        <p:pic>
          <p:nvPicPr>
            <p:cNvPr id="6" name="图片 5" descr="封面图1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0" y="2"/>
              <a:ext cx="19200" cy="10798"/>
            </a:xfrm>
            <a:prstGeom prst="rect">
              <a:avLst/>
            </a:prstGeom>
          </p:spPr>
        </p:pic>
        <p:sp>
          <p:nvSpPr>
            <p:cNvPr id="9" name="矩形 8"/>
            <p:cNvSpPr/>
            <p:nvPr/>
          </p:nvSpPr>
          <p:spPr>
            <a:xfrm>
              <a:off x="297" y="293"/>
              <a:ext cx="18607" cy="1018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pic>
        <p:nvPicPr>
          <p:cNvPr id="3" name="图片 2" descr="数字化转型学习-1-logo"/>
          <p:cNvPicPr>
            <a:picLocks noChangeAspect="1"/>
          </p:cNvPicPr>
          <p:nvPr/>
        </p:nvPicPr>
        <p:blipFill>
          <a:blip r:embed="rId3"/>
          <a:srcRect r="46641" b="1280"/>
          <a:stretch>
            <a:fillRect/>
          </a:stretch>
        </p:blipFill>
        <p:spPr>
          <a:xfrm>
            <a:off x="397510" y="276225"/>
            <a:ext cx="2027555" cy="440690"/>
          </a:xfrm>
          <a:prstGeom prst="rect">
            <a:avLst/>
          </a:prstGeom>
        </p:spPr>
      </p:pic>
      <p:sp>
        <p:nvSpPr>
          <p:cNvPr id="8" name="文本框 7"/>
          <p:cNvSpPr txBox="1"/>
          <p:nvPr userDrawn="1"/>
        </p:nvSpPr>
        <p:spPr>
          <a:xfrm>
            <a:off x="2365915" y="341581"/>
            <a:ext cx="2851150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600" b="1" i="1" dirty="0">
                <a:solidFill>
                  <a:schemeClr val="tx1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Python</a:t>
            </a:r>
            <a:r>
              <a:rPr lang="zh-CN" altLang="en-US" sz="1600" b="1" i="1" dirty="0">
                <a:solidFill>
                  <a:schemeClr val="tx1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实战大课堂</a:t>
            </a:r>
            <a:r>
              <a:rPr lang="en-US" altLang="zh-CN" sz="1600" b="1" i="1" dirty="0">
                <a:solidFill>
                  <a:schemeClr val="tx1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 </a:t>
            </a:r>
            <a:r>
              <a:rPr lang="zh-CN" altLang="en-US" sz="1600" b="1" i="1" dirty="0">
                <a:solidFill>
                  <a:schemeClr val="tx1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·</a:t>
            </a:r>
            <a:r>
              <a:rPr lang="en-US" altLang="zh-CN" sz="1600" b="1" i="1" dirty="0">
                <a:solidFill>
                  <a:schemeClr val="tx1"/>
                </a:solidFill>
                <a:latin typeface="等线" panose="02010600030101010101" pitchFamily="2" charset="-122"/>
                <a:ea typeface="等线" panose="02010600030101010101" pitchFamily="2" charset="-122"/>
              </a:rPr>
              <a:t>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组合 11"/>
          <p:cNvGrpSpPr/>
          <p:nvPr/>
        </p:nvGrpSpPr>
        <p:grpSpPr>
          <a:xfrm>
            <a:off x="393700" y="275590"/>
            <a:ext cx="4715510" cy="469265"/>
            <a:chOff x="620" y="434"/>
            <a:chExt cx="7426" cy="739"/>
          </a:xfrm>
        </p:grpSpPr>
        <p:pic>
          <p:nvPicPr>
            <p:cNvPr id="6" name="图片 5" descr="数字化转型学习-2-logo"/>
            <p:cNvPicPr>
              <a:picLocks noChangeAspect="1"/>
            </p:cNvPicPr>
            <p:nvPr/>
          </p:nvPicPr>
          <p:blipFill>
            <a:blip r:embed="rId3"/>
            <a:srcRect r="51034" b="-4972"/>
            <a:stretch>
              <a:fillRect/>
            </a:stretch>
          </p:blipFill>
          <p:spPr>
            <a:xfrm>
              <a:off x="620" y="434"/>
              <a:ext cx="2936" cy="739"/>
            </a:xfrm>
            <a:prstGeom prst="rect">
              <a:avLst/>
            </a:prstGeom>
          </p:spPr>
        </p:pic>
        <p:grpSp>
          <p:nvGrpSpPr>
            <p:cNvPr id="4" name="组合 3"/>
            <p:cNvGrpSpPr/>
            <p:nvPr userDrawn="1"/>
          </p:nvGrpSpPr>
          <p:grpSpPr>
            <a:xfrm>
              <a:off x="3556" y="436"/>
              <a:ext cx="4490" cy="737"/>
              <a:chOff x="2329085" y="401271"/>
              <a:chExt cx="2851150" cy="468000"/>
            </a:xfrm>
          </p:grpSpPr>
          <p:cxnSp>
            <p:nvCxnSpPr>
              <p:cNvPr id="5" name="直接连接符 4"/>
              <p:cNvCxnSpPr/>
              <p:nvPr userDrawn="1"/>
            </p:nvCxnSpPr>
            <p:spPr>
              <a:xfrm>
                <a:off x="2329085" y="401271"/>
                <a:ext cx="0" cy="468000"/>
              </a:xfrm>
              <a:prstGeom prst="line">
                <a:avLst/>
              </a:prstGeom>
              <a:ln w="12700">
                <a:solidFill>
                  <a:schemeClr val="bg1">
                    <a:alpha val="56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" name="文本框 6"/>
              <p:cNvSpPr txBox="1"/>
              <p:nvPr userDrawn="1"/>
            </p:nvSpPr>
            <p:spPr>
              <a:xfrm>
                <a:off x="2329085" y="466041"/>
                <a:ext cx="2851150" cy="33718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1600" b="1" i="1" dirty="0">
                    <a:solidFill>
                      <a:schemeClr val="bg1"/>
                    </a:solidFill>
                    <a:latin typeface="等线" panose="02010600030101010101" pitchFamily="2" charset="-122"/>
                    <a:ea typeface="等线" panose="02010600030101010101" pitchFamily="2" charset="-122"/>
                  </a:rPr>
                  <a:t>Python</a:t>
                </a:r>
                <a:r>
                  <a:rPr lang="zh-CN" altLang="en-US" sz="1600" b="1" i="1" dirty="0">
                    <a:solidFill>
                      <a:schemeClr val="bg1"/>
                    </a:solidFill>
                    <a:latin typeface="等线" panose="02010600030101010101" pitchFamily="2" charset="-122"/>
                    <a:ea typeface="等线" panose="02010600030101010101" pitchFamily="2" charset="-122"/>
                  </a:rPr>
                  <a:t>实战大课堂</a:t>
                </a:r>
                <a:r>
                  <a:rPr lang="en-US" altLang="zh-CN" sz="1600" b="1" i="1" dirty="0">
                    <a:solidFill>
                      <a:schemeClr val="bg1"/>
                    </a:solidFill>
                    <a:latin typeface="等线" panose="02010600030101010101" pitchFamily="2" charset="-122"/>
                    <a:ea typeface="等线" panose="02010600030101010101" pitchFamily="2" charset="-122"/>
                  </a:rPr>
                  <a:t> </a:t>
                </a:r>
                <a:r>
                  <a:rPr lang="zh-CN" altLang="en-US" sz="1600" b="1" i="1" dirty="0">
                    <a:solidFill>
                      <a:schemeClr val="bg1"/>
                    </a:solidFill>
                    <a:latin typeface="等线" panose="02010600030101010101" pitchFamily="2" charset="-122"/>
                    <a:ea typeface="等线" panose="02010600030101010101" pitchFamily="2" charset="-122"/>
                  </a:rPr>
                  <a:t>·</a:t>
                </a:r>
                <a:r>
                  <a:rPr lang="en-US" altLang="zh-CN" sz="1600" b="1" i="1" dirty="0">
                    <a:solidFill>
                      <a:schemeClr val="bg1"/>
                    </a:solidFill>
                    <a:latin typeface="等线" panose="02010600030101010101" pitchFamily="2" charset="-122"/>
                    <a:ea typeface="等线" panose="02010600030101010101" pitchFamily="2" charset="-122"/>
                  </a:rPr>
                  <a:t> 2026</a:t>
                </a:r>
              </a:p>
            </p:txBody>
          </p:sp>
        </p:grpSp>
      </p:grpSp>
      <p:sp>
        <p:nvSpPr>
          <p:cNvPr id="10" name="标题 3"/>
          <p:cNvSpPr>
            <a:spLocks noGrp="1"/>
          </p:cNvSpPr>
          <p:nvPr/>
        </p:nvSpPr>
        <p:spPr>
          <a:xfrm>
            <a:off x="0" y="1849755"/>
            <a:ext cx="12192635" cy="3008630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b="1" kern="1200">
                <a:solidFill>
                  <a:sysClr val="window" lastClr="FFFFFF"/>
                </a:solidFill>
                <a:latin typeface="方正银联黑简体" panose="02000000000000000000" pitchFamily="2" charset="-122"/>
                <a:ea typeface="方正银联黑简体" panose="02000000000000000000" pitchFamily="2" charset="-122"/>
                <a:cs typeface="方正银联黑简体" panose="02000000000000000000" pitchFamily="2" charset="-122"/>
              </a:defRPr>
            </a:lvl1pPr>
          </a:lstStyle>
          <a:p>
            <a:r>
              <a:rPr lang="en-US" altLang="zh-CN" sz="4400" dirty="0">
                <a:solidFill>
                  <a:schemeClr val="accent2">
                    <a:lumMod val="50000"/>
                  </a:schemeClr>
                </a:solidFill>
              </a:rPr>
              <a:t>Python</a:t>
            </a:r>
            <a:r>
              <a:rPr lang="zh-CN" altLang="en-US" sz="4400" dirty="0">
                <a:solidFill>
                  <a:schemeClr val="accent2">
                    <a:lumMod val="50000"/>
                  </a:schemeClr>
                </a:solidFill>
              </a:rPr>
              <a:t>实战大课堂</a:t>
            </a:r>
            <a:r>
              <a:rPr lang="en-US" altLang="zh-CN" sz="4400" dirty="0">
                <a:solidFill>
                  <a:schemeClr val="accent2">
                    <a:lumMod val="50000"/>
                  </a:schemeClr>
                </a:solidFill>
              </a:rPr>
              <a:t> · 2026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OMMONDATA" val="eyJoZGlkIjoiMGI4YTgzNDM3OGU2NWE4ZDQ3ZGM2MWY3NzgwZGYyZmEifQ=="/>
</p:tagLst>
</file>

<file path=ppt/theme/theme1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Office PowerPoint</Application>
  <PresentationFormat>宽屏</PresentationFormat>
  <Paragraphs>13</Paragraphs>
  <Slides>5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5</vt:i4>
      </vt:variant>
    </vt:vector>
  </HeadingPairs>
  <TitlesOfParts>
    <vt:vector size="11" baseType="lpstr">
      <vt:lpstr>等线</vt:lpstr>
      <vt:lpstr>微软雅黑</vt:lpstr>
      <vt:lpstr>Arial</vt:lpstr>
      <vt:lpstr>Calibri</vt:lpstr>
      <vt:lpstr>Calibri Light</vt:lpstr>
      <vt:lpstr>Office 主题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gcccnew</dc:creator>
  <cp:lastModifiedBy>Windy Day</cp:lastModifiedBy>
  <cp:revision>63</cp:revision>
  <dcterms:created xsi:type="dcterms:W3CDTF">2022-08-09T04:01:00Z</dcterms:created>
  <dcterms:modified xsi:type="dcterms:W3CDTF">2026-09-16T11:58:45Z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2052-12.1.0.24034</vt:lpwstr>
  </property>
  <property fmtid="{D5CDD505-2E9C-101B-9397-08002B2CF9AE}" pid="3" name="ICV">
    <vt:lpwstr>988376E9376546EC8C67B2DC21953C4F_13</vt:lpwstr>
  </property>
</Properties>
</file>