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6" r:id="rId3"/>
    <p:sldId id="261" r:id="rId4"/>
    <p:sldId id="264" r:id="rId5"/>
    <p:sldId id="262" r:id="rId6"/>
    <p:sldId id="267" r:id="rId7"/>
  </p:sldIdLst>
  <p:sldSz cx="12192000" cy="6858000"/>
  <p:notesSz cx="7103745" cy="10234295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0E2"/>
    <a:srgbClr val="FD7B55"/>
    <a:srgbClr val="FD6C40"/>
    <a:srgbClr val="FD8F54"/>
    <a:srgbClr val="7C608E"/>
    <a:srgbClr val="009E8C"/>
    <a:srgbClr val="598E35"/>
    <a:srgbClr val="325026"/>
    <a:srgbClr val="00903E"/>
    <a:srgbClr val="2868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98B2B1-EF87-436F-BEC6-21DF84915C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4C15F-9ACF-400F-A090-EE9CC9157E7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393700" y="275590"/>
            <a:ext cx="4715510" cy="469265"/>
            <a:chOff x="620" y="434"/>
            <a:chExt cx="7426" cy="739"/>
          </a:xfrm>
        </p:grpSpPr>
        <p:pic>
          <p:nvPicPr>
            <p:cNvPr id="6" name="图片 5" descr="数字化转型学习-2-logo"/>
            <p:cNvPicPr>
              <a:picLocks noChangeAspect="1"/>
            </p:cNvPicPr>
            <p:nvPr/>
          </p:nvPicPr>
          <p:blipFill>
            <a:blip r:embed="rId2"/>
            <a:srcRect r="51034" b="-4972"/>
            <a:stretch>
              <a:fillRect/>
            </a:stretch>
          </p:blipFill>
          <p:spPr>
            <a:xfrm>
              <a:off x="620" y="434"/>
              <a:ext cx="2936" cy="739"/>
            </a:xfrm>
            <a:prstGeom prst="rect">
              <a:avLst/>
            </a:prstGeom>
          </p:spPr>
        </p:pic>
        <p:grpSp>
          <p:nvGrpSpPr>
            <p:cNvPr id="4" name="组合 3"/>
            <p:cNvGrpSpPr/>
            <p:nvPr userDrawn="1"/>
          </p:nvGrpSpPr>
          <p:grpSpPr>
            <a:xfrm>
              <a:off x="3556" y="436"/>
              <a:ext cx="4490" cy="737"/>
              <a:chOff x="2329085" y="401271"/>
              <a:chExt cx="2851150" cy="468000"/>
            </a:xfrm>
          </p:grpSpPr>
          <p:cxnSp>
            <p:nvCxnSpPr>
              <p:cNvPr id="5" name="直接连接符 4"/>
              <p:cNvCxnSpPr/>
              <p:nvPr userDrawn="1"/>
            </p:nvCxnSpPr>
            <p:spPr>
              <a:xfrm>
                <a:off x="2329085" y="401271"/>
                <a:ext cx="0" cy="468000"/>
              </a:xfrm>
              <a:prstGeom prst="line">
                <a:avLst/>
              </a:prstGeom>
              <a:ln w="12700">
                <a:solidFill>
                  <a:schemeClr val="bg1">
                    <a:alpha val="56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文本框 6"/>
              <p:cNvSpPr txBox="1"/>
              <p:nvPr userDrawn="1"/>
            </p:nvSpPr>
            <p:spPr>
              <a:xfrm>
                <a:off x="2329085" y="466041"/>
                <a:ext cx="2851150" cy="3371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i="1" dirty="0" smtClean="0">
                    <a:solidFill>
                      <a:schemeClr val="bg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Python</a:t>
                </a:r>
                <a:r>
                  <a:rPr lang="zh-CN" altLang="en-US" sz="1600" b="1" i="1" dirty="0" smtClean="0">
                    <a:solidFill>
                      <a:schemeClr val="bg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实战大课堂</a:t>
                </a:r>
                <a:r>
                  <a:rPr lang="en-US" altLang="zh-CN" sz="1600" b="1" i="1" dirty="0" smtClean="0">
                    <a:solidFill>
                      <a:schemeClr val="bg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zh-CN" altLang="en-US" sz="1600" b="1" i="1" dirty="0" smtClean="0">
                    <a:solidFill>
                      <a:schemeClr val="bg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·</a:t>
                </a:r>
                <a:r>
                  <a:rPr lang="en-US" altLang="zh-CN" sz="1600" b="1" i="1" dirty="0" smtClean="0">
                    <a:solidFill>
                      <a:schemeClr val="bg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2026</a:t>
                </a:r>
                <a:endParaRPr lang="en-US" altLang="zh-CN" sz="1600" b="1" i="1" dirty="0" smtClean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</p:grpSp>
      <p:sp>
        <p:nvSpPr>
          <p:cNvPr id="15" name="矩形 14"/>
          <p:cNvSpPr/>
          <p:nvPr/>
        </p:nvSpPr>
        <p:spPr>
          <a:xfrm>
            <a:off x="635" y="1916430"/>
            <a:ext cx="12191365" cy="26543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题 3"/>
          <p:cNvSpPr>
            <a:spLocks noGrp="1"/>
          </p:cNvSpPr>
          <p:nvPr/>
        </p:nvSpPr>
        <p:spPr>
          <a:xfrm>
            <a:off x="0" y="1849755"/>
            <a:ext cx="12192635" cy="300863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ysClr val="window" lastClr="FFFFFF"/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  <a:cs typeface="方正银联黑简体" panose="02000000000000000000" pitchFamily="2" charset="-122"/>
              </a:defRPr>
            </a:lvl1pPr>
          </a:lstStyle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课程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</a:rPr>
              <a:t>名称</a:t>
            </a:r>
            <a:endParaRPr lang="zh-CN" altLang="en-US" sz="3600" dirty="0" smtClean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984432" y="5178091"/>
            <a:ext cx="2077720" cy="906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2400" b="1" dirty="0" smtClean="0">
                <a:solidFill>
                  <a:schemeClr val="accent2">
                    <a:lumMod val="50000"/>
                  </a:schemeClr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  <a:cs typeface="方正银联黑简体" panose="02000000000000000000" pitchFamily="2" charset="-122"/>
              </a:rPr>
              <a:t>XX</a:t>
            </a:r>
            <a:r>
              <a:rPr lang="zh-CN" altLang="en-US" sz="2400" b="1" dirty="0" smtClean="0">
                <a:solidFill>
                  <a:schemeClr val="accent2">
                    <a:lumMod val="50000"/>
                  </a:schemeClr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  <a:cs typeface="方正银联黑简体" panose="02000000000000000000" pitchFamily="2" charset="-122"/>
              </a:rPr>
              <a:t>团队   </a:t>
            </a:r>
            <a:r>
              <a:rPr lang="en-US" altLang="zh-CN" sz="2400" b="1" dirty="0" smtClean="0">
                <a:solidFill>
                  <a:schemeClr val="accent2">
                    <a:lumMod val="50000"/>
                  </a:schemeClr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  <a:cs typeface="方正银联黑简体" panose="02000000000000000000" pitchFamily="2" charset="-122"/>
              </a:rPr>
              <a:t>XXX</a:t>
            </a:r>
            <a:endParaRPr lang="en-US" altLang="zh-CN" sz="2400" b="1" dirty="0" smtClean="0">
              <a:solidFill>
                <a:schemeClr val="accent2">
                  <a:lumMod val="50000"/>
                </a:schemeClr>
              </a:solidFill>
              <a:latin typeface="方正银联黑简体" panose="02000000000000000000" pitchFamily="2" charset="-122"/>
              <a:ea typeface="方正银联黑简体" panose="02000000000000000000" pitchFamily="2" charset="-122"/>
              <a:cs typeface="方正银联黑简体" panose="02000000000000000000" pitchFamily="2" charset="-122"/>
            </a:endParaRPr>
          </a:p>
          <a:p>
            <a:pPr algn="ctr">
              <a:spcBef>
                <a:spcPts val="600"/>
              </a:spcBef>
            </a:pPr>
            <a:r>
              <a:rPr lang="en-US" altLang="zh-CN" sz="2400" b="1" dirty="0" smtClean="0">
                <a:solidFill>
                  <a:schemeClr val="accent2">
                    <a:lumMod val="50000"/>
                  </a:schemeClr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  <a:cs typeface="方正银联黑简体" panose="02000000000000000000" pitchFamily="2" charset="-122"/>
              </a:rPr>
              <a:t>X</a:t>
            </a:r>
            <a:r>
              <a:rPr lang="zh-CN" altLang="en-US" sz="2400" b="1" dirty="0" smtClean="0">
                <a:solidFill>
                  <a:schemeClr val="accent2">
                    <a:lumMod val="50000"/>
                  </a:schemeClr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  <a:cs typeface="方正银联黑简体" panose="02000000000000000000" pitchFamily="2" charset="-122"/>
              </a:rPr>
              <a:t>年</a:t>
            </a:r>
            <a:r>
              <a:rPr lang="en-US" altLang="zh-CN" sz="2400" b="1" dirty="0" smtClean="0">
                <a:solidFill>
                  <a:schemeClr val="accent2">
                    <a:lumMod val="50000"/>
                  </a:schemeClr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  <a:cs typeface="方正银联黑简体" panose="02000000000000000000" pitchFamily="2" charset="-122"/>
              </a:rPr>
              <a:t>X</a:t>
            </a:r>
            <a:r>
              <a:rPr lang="zh-CN" altLang="en-US" sz="2400" b="1" dirty="0" smtClean="0">
                <a:solidFill>
                  <a:schemeClr val="accent2">
                    <a:lumMod val="50000"/>
                  </a:schemeClr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  <a:cs typeface="方正银联黑简体" panose="02000000000000000000" pitchFamily="2" charset="-122"/>
              </a:rPr>
              <a:t>月</a:t>
            </a:r>
            <a:r>
              <a:rPr lang="en-US" altLang="zh-CN" sz="2400" b="1" dirty="0" smtClean="0">
                <a:solidFill>
                  <a:schemeClr val="accent2">
                    <a:lumMod val="50000"/>
                  </a:schemeClr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  <a:cs typeface="方正银联黑简体" panose="02000000000000000000" pitchFamily="2" charset="-122"/>
              </a:rPr>
              <a:t>X</a:t>
            </a:r>
            <a:r>
              <a:rPr lang="zh-CN" altLang="en-US" sz="2400" b="1" dirty="0" smtClean="0">
                <a:solidFill>
                  <a:schemeClr val="accent2">
                    <a:lumMod val="50000"/>
                  </a:schemeClr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  <a:cs typeface="方正银联黑简体" panose="02000000000000000000" pitchFamily="2" charset="-122"/>
              </a:rPr>
              <a:t>日</a:t>
            </a:r>
            <a:endParaRPr lang="zh-CN" altLang="en-US" sz="2400" b="1" dirty="0" smtClean="0">
              <a:solidFill>
                <a:schemeClr val="accent2">
                  <a:lumMod val="50000"/>
                </a:schemeClr>
              </a:solidFill>
              <a:latin typeface="方正银联黑简体" panose="02000000000000000000" pitchFamily="2" charset="-122"/>
              <a:ea typeface="方正银联黑简体" panose="02000000000000000000" pitchFamily="2" charset="-122"/>
              <a:cs typeface="方正银联黑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172456" y="1639907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kern="1400" dirty="0">
                <a:solidFill>
                  <a:srgbClr val="FD6C40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2800" b="1" kern="1400" dirty="0">
              <a:solidFill>
                <a:srgbClr val="FD6C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820410" y="3518535"/>
            <a:ext cx="4658360" cy="0"/>
          </a:xfrm>
          <a:prstGeom prst="line">
            <a:avLst/>
          </a:prstGeom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820410" y="4129151"/>
            <a:ext cx="4658360" cy="0"/>
          </a:xfrm>
          <a:prstGeom prst="line">
            <a:avLst/>
          </a:prstGeom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820410" y="4739767"/>
            <a:ext cx="4658360" cy="0"/>
          </a:xfrm>
          <a:prstGeom prst="line">
            <a:avLst/>
          </a:prstGeom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820410" y="5350383"/>
            <a:ext cx="4658360" cy="0"/>
          </a:xfrm>
          <a:prstGeom prst="line">
            <a:avLst/>
          </a:prstGeom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820410" y="5960999"/>
            <a:ext cx="4658360" cy="0"/>
          </a:xfrm>
          <a:prstGeom prst="line">
            <a:avLst/>
          </a:prstGeom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5834441" y="3152302"/>
            <a:ext cx="776287" cy="306705"/>
            <a:chOff x="1050510" y="2107727"/>
            <a:chExt cx="776287" cy="306705"/>
          </a:xfrm>
        </p:grpSpPr>
        <p:cxnSp>
          <p:nvCxnSpPr>
            <p:cNvPr id="20" name="直接连接符 19"/>
            <p:cNvCxnSpPr/>
            <p:nvPr/>
          </p:nvCxnSpPr>
          <p:spPr>
            <a:xfrm flipH="1">
              <a:off x="1050510" y="2184690"/>
              <a:ext cx="47625" cy="1365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1117185" y="2184689"/>
              <a:ext cx="47625" cy="1365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1140997" y="2107727"/>
              <a:ext cx="685800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lang="en-US" altLang="zh-CN" sz="1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834441" y="4989052"/>
            <a:ext cx="776287" cy="307777"/>
            <a:chOff x="1050510" y="2107727"/>
            <a:chExt cx="776287" cy="307777"/>
          </a:xfrm>
        </p:grpSpPr>
        <p:cxnSp>
          <p:nvCxnSpPr>
            <p:cNvPr id="24" name="直接连接符 23"/>
            <p:cNvCxnSpPr/>
            <p:nvPr/>
          </p:nvCxnSpPr>
          <p:spPr>
            <a:xfrm flipH="1">
              <a:off x="1050510" y="2184690"/>
              <a:ext cx="47625" cy="1365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1117185" y="2184689"/>
              <a:ext cx="47625" cy="1365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/>
            <p:cNvSpPr txBox="1"/>
            <p:nvPr/>
          </p:nvSpPr>
          <p:spPr>
            <a:xfrm>
              <a:off x="1140997" y="2107727"/>
              <a:ext cx="685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 smtClean="0">
                  <a:latin typeface="微软雅黑" panose="020B0503020204020204" charset="-122"/>
                  <a:ea typeface="微软雅黑" panose="020B0503020204020204" charset="-122"/>
                </a:rPr>
                <a:t>04</a:t>
              </a:r>
              <a:endParaRPr lang="en-US" altLang="zh-CN" sz="1400" dirty="0" smtClean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5834441" y="3764552"/>
            <a:ext cx="776287" cy="307777"/>
            <a:chOff x="1050510" y="2107727"/>
            <a:chExt cx="776287" cy="307777"/>
          </a:xfrm>
        </p:grpSpPr>
        <p:cxnSp>
          <p:nvCxnSpPr>
            <p:cNvPr id="44" name="直接连接符 43"/>
            <p:cNvCxnSpPr/>
            <p:nvPr/>
          </p:nvCxnSpPr>
          <p:spPr>
            <a:xfrm flipH="1">
              <a:off x="1050510" y="2184690"/>
              <a:ext cx="47625" cy="1365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1117185" y="2184689"/>
              <a:ext cx="47625" cy="1365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本框 51"/>
            <p:cNvSpPr txBox="1"/>
            <p:nvPr/>
          </p:nvSpPr>
          <p:spPr>
            <a:xfrm>
              <a:off x="1140997" y="2107727"/>
              <a:ext cx="685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endParaRPr lang="en-US" altLang="zh-CN" sz="1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5834441" y="5601302"/>
            <a:ext cx="776287" cy="307777"/>
            <a:chOff x="1050510" y="2107727"/>
            <a:chExt cx="776287" cy="307777"/>
          </a:xfrm>
        </p:grpSpPr>
        <p:cxnSp>
          <p:nvCxnSpPr>
            <p:cNvPr id="54" name="直接连接符 53"/>
            <p:cNvCxnSpPr/>
            <p:nvPr/>
          </p:nvCxnSpPr>
          <p:spPr>
            <a:xfrm flipH="1">
              <a:off x="1050510" y="2184690"/>
              <a:ext cx="47625" cy="1365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1117185" y="2184689"/>
              <a:ext cx="47625" cy="1365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文本框 55"/>
            <p:cNvSpPr txBox="1"/>
            <p:nvPr/>
          </p:nvSpPr>
          <p:spPr>
            <a:xfrm>
              <a:off x="1140997" y="2107727"/>
              <a:ext cx="685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 smtClean="0">
                  <a:latin typeface="微软雅黑" panose="020B0503020204020204" charset="-122"/>
                  <a:ea typeface="微软雅黑" panose="020B0503020204020204" charset="-122"/>
                </a:rPr>
                <a:t>05</a:t>
              </a:r>
              <a:endParaRPr lang="en-US" altLang="zh-CN" sz="1400" dirty="0" smtClean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5834441" y="4376802"/>
            <a:ext cx="776287" cy="307777"/>
            <a:chOff x="1050510" y="2107727"/>
            <a:chExt cx="776287" cy="307777"/>
          </a:xfrm>
        </p:grpSpPr>
        <p:cxnSp>
          <p:nvCxnSpPr>
            <p:cNvPr id="58" name="直接连接符 57"/>
            <p:cNvCxnSpPr/>
            <p:nvPr/>
          </p:nvCxnSpPr>
          <p:spPr>
            <a:xfrm flipH="1">
              <a:off x="1050510" y="2184690"/>
              <a:ext cx="47625" cy="1365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1117185" y="2184689"/>
              <a:ext cx="47625" cy="1365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/>
            <p:cNvSpPr txBox="1"/>
            <p:nvPr/>
          </p:nvSpPr>
          <p:spPr>
            <a:xfrm>
              <a:off x="1140997" y="2107727"/>
              <a:ext cx="685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 smtClean="0"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lang="en-US" altLang="zh-CN" sz="1400" dirty="0" smtClean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1" name="文本框 60"/>
          <p:cNvSpPr txBox="1"/>
          <p:nvPr/>
        </p:nvSpPr>
        <p:spPr>
          <a:xfrm>
            <a:off x="9478910" y="3137062"/>
            <a:ext cx="68159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500" dirty="0" smtClean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XXXXX</a:t>
            </a:r>
            <a:endParaRPr lang="en-US" altLang="zh-CN" sz="1500" dirty="0" smtClean="0">
              <a:solidFill>
                <a:schemeClr val="accent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8641080" y="666750"/>
            <a:ext cx="1904365" cy="1586230"/>
          </a:xfrm>
          <a:prstGeom prst="rect">
            <a:avLst/>
          </a:prstGeom>
          <a:noFill/>
          <a:ln w="28575">
            <a:solidFill>
              <a:srgbClr val="FD7B5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8113395" y="1016000"/>
            <a:ext cx="982980" cy="7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6440170" y="956310"/>
            <a:ext cx="388810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 b="1" kern="1400" spc="400" dirty="0">
                <a:solidFill>
                  <a:srgbClr val="FD7B55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en-US" altLang="zh-CN" sz="4400" b="1" kern="1400" spc="400" dirty="0">
              <a:solidFill>
                <a:srgbClr val="FD7B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Data extraction-pana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" y="543560"/>
            <a:ext cx="5524500" cy="5524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 descr="封面图1"/>
          <p:cNvPicPr>
            <a:picLocks noChangeAspect="1"/>
          </p:cNvPicPr>
          <p:nvPr>
            <p:ph idx="1"/>
          </p:nvPr>
        </p:nvPicPr>
        <p:blipFill>
          <a:blip r:embed="rId1"/>
          <a:srcRect b="84491"/>
          <a:stretch>
            <a:fillRect/>
          </a:stretch>
        </p:blipFill>
        <p:spPr>
          <a:xfrm flipV="1">
            <a:off x="0" y="5798820"/>
            <a:ext cx="12191365" cy="1059180"/>
          </a:xfrm>
          <a:prstGeom prst="rect">
            <a:avLst/>
          </a:prstGeom>
        </p:spPr>
      </p:pic>
      <p:pic>
        <p:nvPicPr>
          <p:cNvPr id="4" name="图片 3" descr="数字化转型学习-1-logo"/>
          <p:cNvPicPr>
            <a:picLocks noChangeAspect="1"/>
          </p:cNvPicPr>
          <p:nvPr/>
        </p:nvPicPr>
        <p:blipFill>
          <a:blip r:embed="rId2"/>
          <a:srcRect r="46641" b="1280"/>
          <a:stretch>
            <a:fillRect/>
          </a:stretch>
        </p:blipFill>
        <p:spPr>
          <a:xfrm>
            <a:off x="397510" y="276225"/>
            <a:ext cx="2027555" cy="440690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2365915" y="341581"/>
            <a:ext cx="28511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 i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Python</a:t>
            </a:r>
            <a:r>
              <a:rPr lang="zh-CN" altLang="en-US" sz="1600" b="1" i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实战大课堂</a:t>
            </a:r>
            <a:r>
              <a:rPr lang="en-US" altLang="zh-CN" sz="1600" b="1" i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zh-CN" altLang="en-US" sz="1600" b="1" i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·</a:t>
            </a:r>
            <a:r>
              <a:rPr lang="en-US" altLang="zh-CN" sz="1600" b="1" i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2026</a:t>
            </a:r>
            <a:endParaRPr lang="en-US" altLang="zh-CN" sz="1600" b="1" i="1" dirty="0" smtClean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23006" y="2679277"/>
            <a:ext cx="26212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chemeClr val="accent2">
                    <a:lumMod val="50000"/>
                  </a:schemeClr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</a:rPr>
              <a:t>章节</a:t>
            </a:r>
            <a:r>
              <a:rPr lang="zh-CN" altLang="en-US" sz="4800" dirty="0">
                <a:solidFill>
                  <a:schemeClr val="accent2">
                    <a:lumMod val="50000"/>
                  </a:schemeClr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</a:rPr>
              <a:t>标题</a:t>
            </a:r>
            <a:endParaRPr lang="zh-CN" altLang="en-US" sz="4800" dirty="0">
              <a:solidFill>
                <a:schemeClr val="accent2">
                  <a:lumMod val="50000"/>
                </a:schemeClr>
              </a:solidFill>
              <a:latin typeface="方正银联黑简体" panose="02000000000000000000" pitchFamily="2" charset="-122"/>
              <a:ea typeface="方正银联黑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0" y="1270"/>
            <a:ext cx="12192000" cy="6856730"/>
            <a:chOff x="0" y="2"/>
            <a:chExt cx="19200" cy="10798"/>
          </a:xfrm>
        </p:grpSpPr>
        <p:pic>
          <p:nvPicPr>
            <p:cNvPr id="6" name="图片 5" descr="封面图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2"/>
              <a:ext cx="19200" cy="10798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297" y="293"/>
              <a:ext cx="18607" cy="101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" name="图片 2" descr="数字化转型学习-1-logo"/>
          <p:cNvPicPr>
            <a:picLocks noChangeAspect="1"/>
          </p:cNvPicPr>
          <p:nvPr/>
        </p:nvPicPr>
        <p:blipFill>
          <a:blip r:embed="rId2"/>
          <a:srcRect r="46641" b="1280"/>
          <a:stretch>
            <a:fillRect/>
          </a:stretch>
        </p:blipFill>
        <p:spPr>
          <a:xfrm>
            <a:off x="397510" y="276225"/>
            <a:ext cx="2027555" cy="440690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2365915" y="341581"/>
            <a:ext cx="28511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 i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Python</a:t>
            </a:r>
            <a:r>
              <a:rPr lang="zh-CN" altLang="en-US" sz="1600" b="1" i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实战大课堂</a:t>
            </a:r>
            <a:r>
              <a:rPr lang="en-US" altLang="zh-CN" sz="1600" b="1" i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zh-CN" altLang="en-US" sz="1600" b="1" i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·</a:t>
            </a:r>
            <a:r>
              <a:rPr lang="en-US" altLang="zh-CN" sz="1600" b="1" i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2026</a:t>
            </a:r>
            <a:endParaRPr lang="en-US" altLang="zh-CN" sz="1600" b="1" i="1" dirty="0" smtClean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8340" y="1102360"/>
            <a:ext cx="9986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方正银联黑简体" panose="02000000000000000000" pitchFamily="2" charset="-122"/>
                <a:ea typeface="方正银联黑简体" panose="02000000000000000000" pitchFamily="2" charset="-122"/>
              </a:rPr>
              <a:t>XX</a:t>
            </a:r>
            <a:endParaRPr lang="en-US" altLang="zh-CN">
              <a:latin typeface="方正银联黑简体" panose="02000000000000000000" pitchFamily="2" charset="-122"/>
              <a:ea typeface="方正银联黑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393700" y="275590"/>
            <a:ext cx="4715510" cy="469265"/>
            <a:chOff x="620" y="434"/>
            <a:chExt cx="7426" cy="739"/>
          </a:xfrm>
        </p:grpSpPr>
        <p:pic>
          <p:nvPicPr>
            <p:cNvPr id="6" name="图片 5" descr="数字化转型学习-2-logo"/>
            <p:cNvPicPr>
              <a:picLocks noChangeAspect="1"/>
            </p:cNvPicPr>
            <p:nvPr/>
          </p:nvPicPr>
          <p:blipFill>
            <a:blip r:embed="rId2"/>
            <a:srcRect r="51034" b="-4972"/>
            <a:stretch>
              <a:fillRect/>
            </a:stretch>
          </p:blipFill>
          <p:spPr>
            <a:xfrm>
              <a:off x="620" y="434"/>
              <a:ext cx="2936" cy="739"/>
            </a:xfrm>
            <a:prstGeom prst="rect">
              <a:avLst/>
            </a:prstGeom>
          </p:spPr>
        </p:pic>
        <p:grpSp>
          <p:nvGrpSpPr>
            <p:cNvPr id="4" name="组合 3"/>
            <p:cNvGrpSpPr/>
            <p:nvPr userDrawn="1"/>
          </p:nvGrpSpPr>
          <p:grpSpPr>
            <a:xfrm>
              <a:off x="3556" y="436"/>
              <a:ext cx="4490" cy="737"/>
              <a:chOff x="2329085" y="401271"/>
              <a:chExt cx="2851150" cy="468000"/>
            </a:xfrm>
          </p:grpSpPr>
          <p:cxnSp>
            <p:nvCxnSpPr>
              <p:cNvPr id="5" name="直接连接符 4"/>
              <p:cNvCxnSpPr/>
              <p:nvPr userDrawn="1"/>
            </p:nvCxnSpPr>
            <p:spPr>
              <a:xfrm>
                <a:off x="2329085" y="401271"/>
                <a:ext cx="0" cy="468000"/>
              </a:xfrm>
              <a:prstGeom prst="line">
                <a:avLst/>
              </a:prstGeom>
              <a:ln w="12700">
                <a:solidFill>
                  <a:schemeClr val="bg1">
                    <a:alpha val="56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文本框 6"/>
              <p:cNvSpPr txBox="1"/>
              <p:nvPr userDrawn="1"/>
            </p:nvSpPr>
            <p:spPr>
              <a:xfrm>
                <a:off x="2329085" y="466041"/>
                <a:ext cx="2851150" cy="3371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i="1" dirty="0" smtClean="0">
                    <a:solidFill>
                      <a:schemeClr val="bg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Python</a:t>
                </a:r>
                <a:r>
                  <a:rPr lang="zh-CN" altLang="en-US" sz="1600" b="1" i="1" dirty="0" smtClean="0">
                    <a:solidFill>
                      <a:schemeClr val="bg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实战大课堂</a:t>
                </a:r>
                <a:r>
                  <a:rPr lang="en-US" altLang="zh-CN" sz="1600" b="1" i="1" dirty="0" smtClean="0">
                    <a:solidFill>
                      <a:schemeClr val="bg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zh-CN" altLang="en-US" sz="1600" b="1" i="1" dirty="0" smtClean="0">
                    <a:solidFill>
                      <a:schemeClr val="bg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·</a:t>
                </a:r>
                <a:r>
                  <a:rPr lang="en-US" altLang="zh-CN" sz="1600" b="1" i="1" dirty="0" smtClean="0">
                    <a:solidFill>
                      <a:schemeClr val="bg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2026</a:t>
                </a:r>
                <a:endParaRPr lang="en-US" altLang="zh-CN" sz="1600" b="1" i="1" dirty="0" smtClean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</p:grpSp>
      <p:sp>
        <p:nvSpPr>
          <p:cNvPr id="10" name="标题 3"/>
          <p:cNvSpPr>
            <a:spLocks noGrp="1"/>
          </p:cNvSpPr>
          <p:nvPr/>
        </p:nvSpPr>
        <p:spPr>
          <a:xfrm>
            <a:off x="0" y="1849755"/>
            <a:ext cx="12192635" cy="300863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ysClr val="window" lastClr="FFFFFF"/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  <a:cs typeface="方正银联黑简体" panose="02000000000000000000" pitchFamily="2" charset="-122"/>
              </a:defRPr>
            </a:lvl1pPr>
          </a:lstStyle>
          <a:p>
            <a:r>
              <a:rPr lang="en-US" altLang="zh-CN" sz="4400" dirty="0" smtClean="0">
                <a:solidFill>
                  <a:schemeClr val="accent2">
                    <a:lumMod val="50000"/>
                  </a:schemeClr>
                </a:solidFill>
              </a:rPr>
              <a:t>Python</a:t>
            </a:r>
            <a:r>
              <a:rPr lang="zh-CN" altLang="en-US" sz="4400" dirty="0" smtClean="0">
                <a:solidFill>
                  <a:schemeClr val="accent2">
                    <a:lumMod val="50000"/>
                  </a:schemeClr>
                </a:solidFill>
              </a:rPr>
              <a:t>实战大课堂</a:t>
            </a:r>
            <a:r>
              <a:rPr lang="en-US" altLang="zh-CN" sz="4400" dirty="0" smtClean="0">
                <a:solidFill>
                  <a:schemeClr val="accent2">
                    <a:lumMod val="50000"/>
                  </a:schemeClr>
                </a:solidFill>
              </a:rPr>
              <a:t> · 2026</a:t>
            </a:r>
            <a:endParaRPr lang="en-US" altLang="zh-CN" sz="4400" dirty="0" smtClean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GI4YTgzNDM3OGU2NWE4ZDQ3ZGM2MWY3NzgwZGYyZm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WPS 演示</Application>
  <PresentationFormat>宽屏</PresentationFormat>
  <Paragraphs>35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等线</vt:lpstr>
      <vt:lpstr>方正银联黑简体</vt:lpstr>
      <vt:lpstr>微软雅黑</vt:lpstr>
      <vt:lpstr>Calibri</vt:lpstr>
      <vt:lpstr>Arial Unicode MS</vt:lpstr>
      <vt:lpstr>Calibri Light</vt:lpstr>
      <vt:lpstr>楷体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gcccnew</dc:creator>
  <cp:lastModifiedBy>jiangjunwen</cp:lastModifiedBy>
  <cp:revision>60</cp:revision>
  <dcterms:created xsi:type="dcterms:W3CDTF">2022-08-09T04:01:00Z</dcterms:created>
  <dcterms:modified xsi:type="dcterms:W3CDTF">2026-08-21T08:42:12Z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988376E9376546EC8C67B2DC21953C4F_13</vt:lpwstr>
  </property>
</Properties>
</file>